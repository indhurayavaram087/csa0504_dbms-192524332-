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B3A6B"/>
                </a:solidFill>
                <a:latin typeface="Calibri"/>
              </a:rPr>
              <a:t>AI System vs Manual Process (Simulated)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Score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34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Data Retrieval</c:v>
                </c:pt>
                <c:pt idx="1">
                  <c:v>Diagnosis Speed</c:v>
                </c:pt>
                <c:pt idx="2">
                  <c:v>Resource Planning</c:v>
                </c:pt>
                <c:pt idx="3">
                  <c:v>Error Rate (lower better)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88</c:v>
                </c:pt>
                <c:pt idx="2">
                  <c:v>85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00-4C8C-B7E2-3226F5C468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356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7.png"/><Relationship Id="rId4" Type="http://schemas.openxmlformats.org/officeDocument/2006/relationships/image" Target="../media/image39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3.png"/><Relationship Id="rId9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46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 / B.TECH ENGINEERING SEMINAR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196596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Hospital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41248" y="36118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Secure, and Real-Time Healthcare Data Management Powered by Artificial Intelligence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5720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5305C"/>
          </a:solidFill>
          <a:ln w="12700">
            <a:solidFill>
              <a:srgbClr val="3E6B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24128" y="4864608"/>
            <a:ext cx="777240" cy="77724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8" name="Image 1" descr="/home/claude/assets/icons/user_mo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7" y="4957877"/>
            <a:ext cx="590702" cy="5907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4736592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251960" y="45720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5305C"/>
          </a:solidFill>
          <a:ln w="12700">
            <a:solidFill>
              <a:srgbClr val="3E6BA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53128" y="4864608"/>
            <a:ext cx="777240" cy="77724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2" name="Image 2" descr="/home/claude/assets/icons/ai_modu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397" y="4957877"/>
            <a:ext cx="590702" cy="5907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4736592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Support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680960" y="45720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5305C"/>
          </a:solidFill>
          <a:ln w="12700">
            <a:solidFill>
              <a:srgbClr val="3E6BA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82128" y="4864608"/>
            <a:ext cx="777240" cy="77724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6" name="Image 3" descr="/home/claude/assets/icons/admin_modu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7" y="4957877"/>
            <a:ext cx="590702" cy="5907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8240" y="4736592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Admin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22960" y="62910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at Engineering Seminar  •  Department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Hospital Data Management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157984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generate huge volumes of patient, staff, and resource data every day.</a:t>
            </a: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Smart Hospital Database Management System (SHDMS) combines database technology with Artificial Intelligence.</a:t>
            </a: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centralizes patient records, appointments, billing, and inventory into one secure platform.</a:t>
            </a: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assist doctors by predicting risks, automating diagnosis support, and optimizing resources.</a:t>
            </a: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reduce manual errors and improve response time in critical care.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7315200" y="1783080"/>
            <a:ext cx="4343400" cy="4160520"/>
          </a:xfrm>
          <a:prstGeom prst="roundRect">
            <a:avLst>
              <a:gd name="adj" fmla="val 1758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21031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pic>
        <p:nvPicPr>
          <p:cNvPr id="8" name="Image 1" descr="/home/claude/assets/icons/hospital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223113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20848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Hospital Data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635240" y="3063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pic>
        <p:nvPicPr>
          <p:cNvPr id="11" name="Image 2" descr="/home/claude/assets/icons/brain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319125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58200" y="304495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Decisions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635240" y="40233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pic>
        <p:nvPicPr>
          <p:cNvPr id="14" name="Image 3" descr="/home/claude/assets/icons/networ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256" y="41513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58200" y="4005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Departments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635240" y="49834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pic>
        <p:nvPicPr>
          <p:cNvPr id="17" name="Image 4" descr="/home/claude/assets/icons/shield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5111496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58200" y="496519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Reliable Access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Traditional Hospital Systems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1" descr="/home/claude/assets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2044598"/>
            <a:ext cx="382219" cy="38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files are slow, hard to search, and easily damaged or lost.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44568" y="19842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2" descr="/home/claude/assets/icons/un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918" y="2044598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Departments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pharmacy, and billing often use separate, non-linked systems.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39328" y="19842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7" name="Image 3" descr="/home/claude/assets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678" y="2044598"/>
            <a:ext cx="382219" cy="3822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Diagnosis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6676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predictive tools delays early detection of critical conditions.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4" descr="/home/claude/assets/icons/usersl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" y="4147718"/>
            <a:ext cx="382219" cy="3822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7724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increases risk of duplicate or incorrect records.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4340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44568" y="40873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7" name="Image 5" descr="/home/claude/assets/icons/chartdow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918" y="4147718"/>
            <a:ext cx="382219" cy="38221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Resource Planning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7200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Bed, staff, and equipment allocation is rarely data-driven.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13816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39328" y="40873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2" name="Image 6" descr="/home/claude/assets/icons/w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9678" y="4147718"/>
            <a:ext cx="382219" cy="38221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6112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Risks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36676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patient data is vulnerable without proper access control.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Aims to Achieve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1" descr="/home/claude/assets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2044598"/>
            <a:ext cx="382219" cy="38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Platform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patient, staff &amp; resource records in one secure database.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44568" y="19842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2" name="Image 2" descr="/home/claude/assets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918" y="2044598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predictions to speed up diagnosis and treatment planning.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39328" y="19842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7" name="Image 3" descr="/home/claude/assets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678" y="2044598"/>
            <a:ext cx="382219" cy="3822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Security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6676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role-based access control to protect sensitive health data.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2" name="Image 4" descr="/home/claude/assets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" y="4147718"/>
            <a:ext cx="382219" cy="3822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7724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departments updated instantly with live data synchronization.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4340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44568" y="408736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7" name="Image 5" descr="/home/claude/assets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918" y="4147718"/>
            <a:ext cx="382219" cy="38221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Resource Use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7200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beds, staff, and equipment using data-driven insights.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13816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39328" y="408736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2" name="Image 6" descr="/home/claude/assets/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9678" y="4147718"/>
            <a:ext cx="382219" cy="38221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6112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Errors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36676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manual mistakes through automated validation and alerts.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Current Hospital Systems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94360" y="196596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hospitals rely on partially digitized or paper-based record systems.</a:t>
            </a: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in isolated silos across departments (lab, pharmacy, billing).</a:t>
            </a: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or AI-based decision support for doctors.</a:t>
            </a: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 leads to overbooking and resource conflicts.</a:t>
            </a: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visibility into bed and equipment availability.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126480" y="178308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2D3436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20391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Snapshot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46520" y="2560320"/>
            <a:ext cx="384048" cy="384048"/>
          </a:xfrm>
          <a:prstGeom prst="ellipse">
            <a:avLst/>
          </a:prstGeom>
          <a:solidFill>
            <a:srgbClr val="404A52"/>
          </a:solidFill>
          <a:ln/>
        </p:spPr>
      </p:sp>
      <p:pic>
        <p:nvPicPr>
          <p:cNvPr id="9" name="Image 1" descr="/home/claude/assets/icons/timesc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606" y="2606406"/>
            <a:ext cx="291876" cy="2918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2514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778240" y="2514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files / isolated local databases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46520" y="3218688"/>
            <a:ext cx="384048" cy="384048"/>
          </a:xfrm>
          <a:prstGeom prst="ellipse">
            <a:avLst/>
          </a:prstGeom>
          <a:solidFill>
            <a:srgbClr val="404A52"/>
          </a:solidFill>
          <a:ln/>
        </p:spPr>
      </p:sp>
      <p:pic>
        <p:nvPicPr>
          <p:cNvPr id="13" name="Image 2" descr="/home/claude/assets/icons/timesc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606" y="3264774"/>
            <a:ext cx="291876" cy="2918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317296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Link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778240" y="3172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integrated across departments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46520" y="3877056"/>
            <a:ext cx="384048" cy="384048"/>
          </a:xfrm>
          <a:prstGeom prst="ellipse">
            <a:avLst/>
          </a:prstGeom>
          <a:solidFill>
            <a:srgbClr val="404A52"/>
          </a:solidFill>
          <a:ln/>
        </p:spPr>
      </p:sp>
      <p:pic>
        <p:nvPicPr>
          <p:cNvPr id="17" name="Image 3" descr="/home/claude/assets/icons/timesc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606" y="3923142"/>
            <a:ext cx="291876" cy="2918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383133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Support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778240" y="38313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assistance, fully manual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46520" y="4535424"/>
            <a:ext cx="384048" cy="384048"/>
          </a:xfrm>
          <a:prstGeom prst="ellipse">
            <a:avLst/>
          </a:prstGeom>
          <a:solidFill>
            <a:srgbClr val="404A52"/>
          </a:solidFill>
          <a:ln/>
        </p:spPr>
      </p:sp>
      <p:pic>
        <p:nvPicPr>
          <p:cNvPr id="21" name="Image 4" descr="/home/claude/assets/icons/timesc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606" y="4581510"/>
            <a:ext cx="291876" cy="29187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95160" y="44897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Planning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778240" y="44897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manual estimation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446520" y="5193792"/>
            <a:ext cx="384048" cy="384048"/>
          </a:xfrm>
          <a:prstGeom prst="ellipse">
            <a:avLst/>
          </a:prstGeom>
          <a:solidFill>
            <a:srgbClr val="404A52"/>
          </a:solidFill>
          <a:ln/>
        </p:spPr>
      </p:sp>
      <p:pic>
        <p:nvPicPr>
          <p:cNvPr id="25" name="Image 5" descr="/home/claude/assets/icons/timesc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606" y="5239878"/>
            <a:ext cx="291876" cy="29187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5160" y="51480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8778240" y="5148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or no access control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64653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75488" y="525799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Three-Module Smart Hospital Platform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52272" y="10830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is built around three integrated modules.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works independently but shares one unified database.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continuously analyze data to support hospital staff.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scalability across multi-department hospitals.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1B3A6B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3017520"/>
            <a:ext cx="777240" cy="7772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8" name="Image 1" descr="/home/claude/assets/icons/user_mo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9" y="3110789"/>
            <a:ext cx="590702" cy="5907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Patient Record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2960" y="475488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Digital patient profiles</a:t>
            </a:r>
            <a:endParaRPr lang="en-US" sz="1200" dirty="0"/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&amp; history tracking</a:t>
            </a:r>
            <a:endParaRPr lang="en-US" sz="1200" dirty="0"/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document storage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61688" y="27432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2E5C8A"/>
          </a:solidFill>
          <a:ln/>
        </p:spPr>
      </p:sp>
      <p:sp>
        <p:nvSpPr>
          <p:cNvPr id="12" name="Shape 8"/>
          <p:cNvSpPr/>
          <p:nvPr/>
        </p:nvSpPr>
        <p:spPr>
          <a:xfrm>
            <a:off x="4636008" y="3017520"/>
            <a:ext cx="777240" cy="7772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3" name="Image 2" descr="/home/claude/assets/icons/ai_modu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77" y="3110789"/>
            <a:ext cx="590702" cy="5907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AI Diagnosis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636008" y="475488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Symptom-based risk prediction</a:t>
            </a:r>
            <a:endParaRPr lang="en-US" sz="1200" dirty="0"/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detection alerts</a:t>
            </a:r>
            <a:endParaRPr lang="en-US" sz="1200" dirty="0"/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decision assistance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74736" y="27432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146C94"/>
          </a:solidFill>
          <a:ln/>
        </p:spPr>
      </p:sp>
      <p:sp>
        <p:nvSpPr>
          <p:cNvPr id="17" name="Shape 12"/>
          <p:cNvSpPr/>
          <p:nvPr/>
        </p:nvSpPr>
        <p:spPr>
          <a:xfrm>
            <a:off x="8449056" y="3017520"/>
            <a:ext cx="777240" cy="7772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8" name="Image 3" descr="/home/claude/assets/icons/admin_modu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325" y="3110789"/>
            <a:ext cx="590702" cy="5907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30768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Resource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Management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449056" y="475488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staff allocation</a:t>
            </a:r>
            <a:endParaRPr lang="en-US" sz="1200" dirty="0"/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inventory control</a:t>
            </a:r>
            <a:endParaRPr lang="en-US" sz="1200" dirty="0"/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dashboard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· MODULE 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Patient Record Management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one secure digital profile per patient, replacing scattered paper files with a single reliable record.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4708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212848"/>
            <a:ext cx="566928" cy="566928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8" name="Image 1" descr="/home/claude/assets/icons/user_plu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2280879"/>
            <a:ext cx="430865" cy="4308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9933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Patient Registration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81328" y="232257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Captures demographics, contact, and medical ID at first visit.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84708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19088" y="2212848"/>
            <a:ext cx="566928" cy="566928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13" name="Image 2" descr="/home/claude/assets/icons/calendar_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119" y="2280879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0608" y="19933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&amp; Visit Tracking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150608" y="232257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consultation, follow-up, and referral in one timeline.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31012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3675888"/>
            <a:ext cx="566928" cy="566928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18" name="Image 3" descr="/home/claude/assets/icons/file_medica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" y="3743919"/>
            <a:ext cx="430865" cy="4308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34564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Medical History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81328" y="378561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Stores prescriptions, lab reports, and past diagnoses centrally.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17920" y="331012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19088" y="3675888"/>
            <a:ext cx="566928" cy="566928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23" name="Image 4" descr="/home/claude/assets/icons/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119" y="3743919"/>
            <a:ext cx="430865" cy="4308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0608" y="34564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Document Storage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50608" y="378561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Encrypts records with role-based access for authorized staff only.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48920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1B3A6B"/>
          </a:solidFill>
          <a:ln/>
        </p:spPr>
      </p:sp>
      <p:sp>
        <p:nvSpPr>
          <p:cNvPr id="27" name="Text 20"/>
          <p:cNvSpPr/>
          <p:nvPr/>
        </p:nvSpPr>
        <p:spPr>
          <a:xfrm>
            <a:off x="77724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MODULE 1 WORKS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7724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29" name="Image 5" descr="/home/claude/assets/icons/user_plu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71" y="5398983"/>
            <a:ext cx="430865" cy="43086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5389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Registers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3127248" y="5422392"/>
            <a:ext cx="39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353568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33" name="Image 6" descr="/home/claude/assets/icons/file_medica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3711" y="5398983"/>
            <a:ext cx="430865" cy="43086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21233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Created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5885688" y="5422392"/>
            <a:ext cx="39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29412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37" name="Image 7" descr="/home/claude/assets/icons/calendar_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151" y="5398983"/>
            <a:ext cx="430865" cy="43086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7077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Logged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8644128" y="5422392"/>
            <a:ext cx="39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905256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41" name="Image 8" descr="/home/claude/assets/icons/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0591" y="5398983"/>
            <a:ext cx="430865" cy="43086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72921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Stored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· MODULE 2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AI Diagnosis Support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trained machine learning models to flag risks early and help doctors decide faster, not replace them.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4708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212848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8" name="Image 1" descr="/home/claude/assets/icons/stethoscop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2280879"/>
            <a:ext cx="430865" cy="4308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9933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&amp; Vitals Input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81328" y="232257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Doctors or IoT devices feed live patient symptoms and vitals.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84708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19088" y="2212848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3" name="Image 2" descr="/home/claude/assets/icons/bra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119" y="2280879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0608" y="19933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Prediction Model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150608" y="232257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 model analyzes patterns against historical clinical data.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31012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3675888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8" name="Image 3" descr="/home/claude/assets/icons/chartlin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" y="3743919"/>
            <a:ext cx="430865" cy="4308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34564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Generation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81328" y="378561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 easy-to-read risk score for each patient case.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17920" y="331012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19088" y="3675888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3" name="Image 4" descr="/home/claude/assets/icons/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119" y="3743919"/>
            <a:ext cx="430865" cy="4308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0608" y="34564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Alert to Doctors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50608" y="378561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Sends instant alerts for high-risk or critical predictions.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48920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2E5C8A"/>
          </a:solidFill>
          <a:ln/>
        </p:spPr>
      </p:sp>
      <p:sp>
        <p:nvSpPr>
          <p:cNvPr id="27" name="Text 20"/>
          <p:cNvSpPr/>
          <p:nvPr/>
        </p:nvSpPr>
        <p:spPr>
          <a:xfrm>
            <a:off x="77724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MODULE 2 WORKS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7724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29" name="Image 5" descr="/home/claude/assets/icons/stethoscop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71" y="5398983"/>
            <a:ext cx="430865" cy="43086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5389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Entered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3127248" y="5422392"/>
            <a:ext cx="39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353568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33" name="Image 6" descr="/home/claude/assets/icons/bra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3711" y="5398983"/>
            <a:ext cx="430865" cy="43086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21233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Analyzes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5885688" y="5422392"/>
            <a:ext cx="39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29412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37" name="Image 7" descr="/home/claude/assets/icons/chartlin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151" y="5398983"/>
            <a:ext cx="430865" cy="43086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7077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Given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8644128" y="5422392"/>
            <a:ext cx="39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905256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41" name="Image 8" descr="/home/claude/assets/icons/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0591" y="5398983"/>
            <a:ext cx="430865" cy="43086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72921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Alerted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· MODULE 3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Resource &amp; Admin Management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hospital administrators real-time visibility and control over beds, staff, billing, and supplies.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4708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212848"/>
            <a:ext cx="566928" cy="566928"/>
          </a:xfrm>
          <a:prstGeom prst="ellipse">
            <a:avLst/>
          </a:prstGeom>
          <a:solidFill>
            <a:srgbClr val="146C94"/>
          </a:solidFill>
          <a:ln/>
        </p:spPr>
      </p:sp>
      <p:pic>
        <p:nvPicPr>
          <p:cNvPr id="8" name="Image 1" descr="/home/claude/assets/icons/be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2280879"/>
            <a:ext cx="430865" cy="4308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9933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Ward Allocation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81328" y="232257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Tracks bed occupancy live and assigns patients to open beds.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84708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19088" y="2212848"/>
            <a:ext cx="566928" cy="566928"/>
          </a:xfrm>
          <a:prstGeom prst="ellipse">
            <a:avLst/>
          </a:prstGeom>
          <a:solidFill>
            <a:srgbClr val="146C94"/>
          </a:solidFill>
          <a:ln/>
        </p:spPr>
      </p:sp>
      <p:pic>
        <p:nvPicPr>
          <p:cNvPr id="13" name="Image 2" descr="/home/claude/assets/icons/users_co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119" y="2280879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0608" y="19933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Scheduling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150608" y="232257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Plans nurse and doctor shifts based on ward workload.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31012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3675888"/>
            <a:ext cx="566928" cy="566928"/>
          </a:xfrm>
          <a:prstGeom prst="ellipse">
            <a:avLst/>
          </a:prstGeom>
          <a:solidFill>
            <a:srgbClr val="146C94"/>
          </a:solidFill>
          <a:ln/>
        </p:spPr>
      </p:sp>
      <p:pic>
        <p:nvPicPr>
          <p:cNvPr id="18" name="Image 3" descr="/home/claude/assets/icons/invoic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" y="3743919"/>
            <a:ext cx="430865" cy="4308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34564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81328" y="378561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invoices linked directly to treatment records.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17920" y="331012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19088" y="3675888"/>
            <a:ext cx="566928" cy="566928"/>
          </a:xfrm>
          <a:prstGeom prst="ellipse">
            <a:avLst/>
          </a:prstGeom>
          <a:solidFill>
            <a:srgbClr val="146C94"/>
          </a:solidFill>
          <a:ln/>
        </p:spPr>
      </p:sp>
      <p:pic>
        <p:nvPicPr>
          <p:cNvPr id="23" name="Image 4" descr="/home/claude/assets/icons/boxe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119" y="3743919"/>
            <a:ext cx="430865" cy="4308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0608" y="34564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50608" y="378561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Monitors medicine and equipment stock, flags low supply.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48920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146C94"/>
          </a:solidFill>
          <a:ln/>
        </p:spPr>
      </p:sp>
      <p:sp>
        <p:nvSpPr>
          <p:cNvPr id="27" name="Text 20"/>
          <p:cNvSpPr/>
          <p:nvPr/>
        </p:nvSpPr>
        <p:spPr>
          <a:xfrm>
            <a:off x="77724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MODULE 3 WORKS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7724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29" name="Image 5" descr="/home/claude/assets/icons/be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71" y="5398983"/>
            <a:ext cx="430865" cy="43086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5389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Tracked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3127248" y="5422392"/>
            <a:ext cx="39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353568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33" name="Image 6" descr="/home/claude/assets/icons/users_co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3711" y="5398983"/>
            <a:ext cx="430865" cy="43086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21233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Assigned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5885688" y="5422392"/>
            <a:ext cx="39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29412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37" name="Image 7" descr="/home/claude/assets/icons/invoic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151" y="5398983"/>
            <a:ext cx="430865" cy="43086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7077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Generated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8644128" y="5422392"/>
            <a:ext cx="39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9052560" y="533095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41" name="Image 8" descr="/home/claude/assets/icons/gaug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0591" y="5398983"/>
            <a:ext cx="430865" cy="43086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729216" y="5312664"/>
            <a:ext cx="1655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Updated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Overview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914400" y="1783080"/>
            <a:ext cx="10332720" cy="859536"/>
          </a:xfrm>
          <a:prstGeom prst="roundRect">
            <a:avLst>
              <a:gd name="adj" fmla="val 7447"/>
            </a:avLst>
          </a:prstGeom>
          <a:solidFill>
            <a:srgbClr val="1B3A6B"/>
          </a:solidFill>
          <a:ln/>
        </p:spPr>
      </p:sp>
      <p:sp>
        <p:nvSpPr>
          <p:cNvPr id="6" name="Shape 3"/>
          <p:cNvSpPr/>
          <p:nvPr/>
        </p:nvSpPr>
        <p:spPr>
          <a:xfrm>
            <a:off x="1115568" y="1929384"/>
            <a:ext cx="566928" cy="56692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1" descr="/home/claude/assets/icons/dev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599" y="1997415"/>
            <a:ext cx="430865" cy="4308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1783080"/>
            <a:ext cx="2651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663440" y="1783080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Nurses, Admin &amp; Patient Portals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 rot="10800000">
            <a:off x="5952744" y="2647188"/>
            <a:ext cx="256032" cy="100584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2752344"/>
            <a:ext cx="10332720" cy="859536"/>
          </a:xfrm>
          <a:prstGeom prst="roundRect">
            <a:avLst>
              <a:gd name="adj" fmla="val 7447"/>
            </a:avLst>
          </a:prstGeom>
          <a:solidFill>
            <a:srgbClr val="2E5C8A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2898648"/>
            <a:ext cx="566928" cy="56692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3" name="Image 2" descr="/home/claude/assets/icons/app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599" y="2966679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2752344"/>
            <a:ext cx="2651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63440" y="2752344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App, APIs &amp; Authentication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 rot="10800000">
            <a:off x="5952744" y="3616452"/>
            <a:ext cx="256032" cy="100584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7" name="Shape 12"/>
          <p:cNvSpPr/>
          <p:nvPr/>
        </p:nvSpPr>
        <p:spPr>
          <a:xfrm>
            <a:off x="914400" y="3721608"/>
            <a:ext cx="10332720" cy="859536"/>
          </a:xfrm>
          <a:prstGeom prst="roundRect">
            <a:avLst>
              <a:gd name="adj" fmla="val 7447"/>
            </a:avLst>
          </a:prstGeom>
          <a:solidFill>
            <a:srgbClr val="146C94"/>
          </a:solidFill>
          <a:ln/>
        </p:spPr>
      </p:sp>
      <p:sp>
        <p:nvSpPr>
          <p:cNvPr id="18" name="Shape 13"/>
          <p:cNvSpPr/>
          <p:nvPr/>
        </p:nvSpPr>
        <p:spPr>
          <a:xfrm>
            <a:off x="1115568" y="3867912"/>
            <a:ext cx="566928" cy="56692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9" name="Image 3" descr="/home/claude/assets/icons/aieng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3599" y="3935943"/>
            <a:ext cx="430865" cy="4308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20240" y="3721608"/>
            <a:ext cx="2651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Layer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663440" y="3721608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for Prediction &amp; Diagnosis Support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 rot="10800000">
            <a:off x="5952744" y="4585716"/>
            <a:ext cx="256032" cy="100584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23" name="Shape 17"/>
          <p:cNvSpPr/>
          <p:nvPr/>
        </p:nvSpPr>
        <p:spPr>
          <a:xfrm>
            <a:off x="914400" y="4690872"/>
            <a:ext cx="10332720" cy="859536"/>
          </a:xfrm>
          <a:prstGeom prst="roundRect">
            <a:avLst>
              <a:gd name="adj" fmla="val 7447"/>
            </a:avLst>
          </a:prstGeom>
          <a:solidFill>
            <a:srgbClr val="0E4C75"/>
          </a:solidFill>
          <a:ln/>
        </p:spPr>
      </p:sp>
      <p:sp>
        <p:nvSpPr>
          <p:cNvPr id="24" name="Shape 18"/>
          <p:cNvSpPr/>
          <p:nvPr/>
        </p:nvSpPr>
        <p:spPr>
          <a:xfrm>
            <a:off x="1115568" y="4837176"/>
            <a:ext cx="566928" cy="56692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5" name="Image 4" descr="/home/claude/assets/icons/dbst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3599" y="4905207"/>
            <a:ext cx="430865" cy="4308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20240" y="4690872"/>
            <a:ext cx="2651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63440" y="4690872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Billing, Inventory &amp; Staff Records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 rot="10800000">
            <a:off x="5952744" y="5554980"/>
            <a:ext cx="256032" cy="100584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29" name="Shape 22"/>
          <p:cNvSpPr/>
          <p:nvPr/>
        </p:nvSpPr>
        <p:spPr>
          <a:xfrm>
            <a:off x="914400" y="5660136"/>
            <a:ext cx="10332720" cy="859536"/>
          </a:xfrm>
          <a:prstGeom prst="roundRect">
            <a:avLst>
              <a:gd name="adj" fmla="val 7447"/>
            </a:avLst>
          </a:prstGeom>
          <a:solidFill>
            <a:srgbClr val="0B3861"/>
          </a:solidFill>
          <a:ln/>
        </p:spPr>
      </p:sp>
      <p:sp>
        <p:nvSpPr>
          <p:cNvPr id="30" name="Shape 23"/>
          <p:cNvSpPr/>
          <p:nvPr/>
        </p:nvSpPr>
        <p:spPr>
          <a:xfrm>
            <a:off x="1115568" y="5806440"/>
            <a:ext cx="566928" cy="56692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5" descr="/home/claude/assets/icons/clo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3599" y="5874471"/>
            <a:ext cx="430865" cy="4308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920240" y="5660136"/>
            <a:ext cx="2651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Storage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4663440" y="5660136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Hosting &amp; Automated Backups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METHODOLOGY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Flow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3728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/>
        </p:spPr>
      </p:sp>
      <p:sp>
        <p:nvSpPr>
          <p:cNvPr id="6" name="Text 3"/>
          <p:cNvSpPr/>
          <p:nvPr/>
        </p:nvSpPr>
        <p:spPr>
          <a:xfrm>
            <a:off x="170672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43788" y="2487168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8" name="Image 1" descr="/home/claude/assets/icons/coll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597" y="2563978"/>
            <a:ext cx="486461" cy="4864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2288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2182216" y="27660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456536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2E5C8A"/>
          </a:solidFill>
          <a:ln/>
        </p:spPr>
      </p:sp>
      <p:sp>
        <p:nvSpPr>
          <p:cNvPr id="12" name="Text 8"/>
          <p:cNvSpPr/>
          <p:nvPr/>
        </p:nvSpPr>
        <p:spPr>
          <a:xfrm>
            <a:off x="3599536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936596" y="2487168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4" name="Image 2" descr="/home/claude/assets/icons/prepro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405" y="2563978"/>
            <a:ext cx="486461" cy="4864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65096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075024" y="27660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349344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/>
        </p:spPr>
      </p:sp>
      <p:sp>
        <p:nvSpPr>
          <p:cNvPr id="18" name="Text 13"/>
          <p:cNvSpPr/>
          <p:nvPr/>
        </p:nvSpPr>
        <p:spPr>
          <a:xfrm>
            <a:off x="5492344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29404" y="2487168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0" name="Image 3" descr="/home/claude/assets/icons/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213" y="2563978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257904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967832" y="27660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242152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2E5C8A"/>
          </a:solidFill>
          <a:ln/>
        </p:spPr>
      </p:sp>
      <p:sp>
        <p:nvSpPr>
          <p:cNvPr id="24" name="Text 18"/>
          <p:cNvSpPr/>
          <p:nvPr/>
        </p:nvSpPr>
        <p:spPr>
          <a:xfrm>
            <a:off x="7385152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722212" y="2487168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6" name="Image 4" descr="/home/claude/assets/icons/predi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021" y="2563978"/>
            <a:ext cx="486461" cy="4864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50712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860640" y="27660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8134960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/>
        </p:spPr>
      </p:sp>
      <p:sp>
        <p:nvSpPr>
          <p:cNvPr id="30" name="Text 23"/>
          <p:cNvSpPr/>
          <p:nvPr/>
        </p:nvSpPr>
        <p:spPr>
          <a:xfrm>
            <a:off x="927796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615020" y="2487168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2" name="Image 5" descr="/home/claude/assets/icons/upd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1829" y="2563978"/>
            <a:ext cx="486461" cy="48646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43520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9753448" y="27660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10027768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2E5C8A"/>
          </a:solidFill>
          <a:ln/>
        </p:spPr>
      </p:sp>
      <p:sp>
        <p:nvSpPr>
          <p:cNvPr id="36" name="Text 28"/>
          <p:cNvSpPr/>
          <p:nvPr/>
        </p:nvSpPr>
        <p:spPr>
          <a:xfrm>
            <a:off x="1117076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10507828" y="2487168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8" name="Image 6" descr="/home/claude/assets/icons/dash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4637" y="2563978"/>
            <a:ext cx="486461" cy="486461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936328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" y="46177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Patient vitals, history, and lab data are collected from multiple hospital sources.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§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models clean and analyze data to detect risk patterns and predict outcomes.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Wingdings" panose="05000000000000000000" pitchFamily="2" charset="2"/>
              <a:buChar char="§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written back to the central database and shown on live dashboards.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7" name="Image 1" descr="/home/claude/assets/icons/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2044598"/>
            <a:ext cx="382219" cy="38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AI model development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44568" y="1984248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2" name="Image 2" descr="/home/claude/assets/icons/ml_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918" y="2044598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TensorFlow for prediction models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39328" y="1984248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7" name="Image 3" descr="/home/claude/assets/icons/db_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678" y="2044598"/>
            <a:ext cx="382219" cy="3822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NoSQL Database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6676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MySQL &amp; MongoDB for structured &amp; flexible data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2" name="Image 4" descr="/home/claude/assets/icons/react_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" y="4147718"/>
            <a:ext cx="382219" cy="3822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7724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front-end dashboards &amp; portals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4340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44568" y="4087368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7" name="Image 5" descr="/home/claude/assets/icons/cloud_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918" y="4147718"/>
            <a:ext cx="382219" cy="38221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7200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for scalable, secure deployment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13816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39328" y="4087368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32" name="Image 6" descr="/home/claude/assets/icons/iot_i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9678" y="4147718"/>
            <a:ext cx="382219" cy="38221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6112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36676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vitals monitoring from connected devices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STEPS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Design to Deployment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658368" cy="658368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6" name="Image 1" descr="/home/claude/assets/icons/ste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84" y="1862084"/>
            <a:ext cx="500360" cy="500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97280" y="167335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97280" y="1673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463040" y="17373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1463040" y="213055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hospital workflows and define data &amp; functional needs.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" y="3200400"/>
            <a:ext cx="658368" cy="65836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2" name="Image 2" descr="/home/claude/assets/icons/ste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84" y="3279404"/>
            <a:ext cx="500360" cy="5003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97280" y="309067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097280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463040" y="31546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6" name="Text 11"/>
          <p:cNvSpPr/>
          <p:nvPr/>
        </p:nvSpPr>
        <p:spPr>
          <a:xfrm>
            <a:off x="1463040" y="354787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normalized schema for patients, staff, and resources.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40080" y="4617720"/>
            <a:ext cx="658368" cy="658368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18" name="Image 3" descr="/home/claude/assets/icons/ste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084" y="4696724"/>
            <a:ext cx="500360" cy="5003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097280" y="450799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097280" y="4507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463040" y="45720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Training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1463040" y="496519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prediction models on historical clinical datasets.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3" name="Shape 17"/>
          <p:cNvSpPr/>
          <p:nvPr/>
        </p:nvSpPr>
        <p:spPr>
          <a:xfrm>
            <a:off x="6263640" y="1783080"/>
            <a:ext cx="658368" cy="65836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4" name="Image 4" descr="/home/claude/assets/icons/ste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644" y="1862084"/>
            <a:ext cx="500360" cy="50036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720840" y="167335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720840" y="1673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086600" y="17373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Development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8" name="Text 21"/>
          <p:cNvSpPr/>
          <p:nvPr/>
        </p:nvSpPr>
        <p:spPr>
          <a:xfrm>
            <a:off x="7086600" y="213055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front-end, back-end, and API integration layers.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263640" y="3200400"/>
            <a:ext cx="658368" cy="658368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30" name="Image 5" descr="/home/claude/assets/icons/step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2644" y="3279404"/>
            <a:ext cx="500360" cy="50036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720840" y="309067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7086600" y="31546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34" name="Text 26"/>
          <p:cNvSpPr/>
          <p:nvPr/>
        </p:nvSpPr>
        <p:spPr>
          <a:xfrm>
            <a:off x="7086600" y="354787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unit, integration, and security testing.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35" name="Shape 27"/>
          <p:cNvSpPr/>
          <p:nvPr/>
        </p:nvSpPr>
        <p:spPr>
          <a:xfrm>
            <a:off x="6263640" y="4617720"/>
            <a:ext cx="658368" cy="65836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36" name="Image 6" descr="/home/claude/assets/icons/step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2644" y="4696724"/>
            <a:ext cx="500360" cy="50036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6720840" y="450799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720840" y="4507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7086600" y="45720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40" name="Text 31"/>
          <p:cNvSpPr/>
          <p:nvPr/>
        </p:nvSpPr>
        <p:spPr>
          <a:xfrm>
            <a:off x="7086600" y="496519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cloud and monitor performance continuously.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41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Improvement Over Manual Systems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6309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178040" y="178308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406640" y="1892808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8778240" y="189280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patient record retrieval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178040" y="310896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06640" y="3218688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8778240" y="321868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diagnosis delay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178040" y="443484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06640" y="4544568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8778240" y="454456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utilization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Adds Value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1B3A6B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7" name="Image 1" descr="/home/claude/assets/icons/adv_sp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2044598"/>
            <a:ext cx="382219" cy="38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Operations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records speeds up every hospital process.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1B3A6B"/>
          </a:solidFill>
          <a:ln/>
        </p:spPr>
      </p:sp>
      <p:sp>
        <p:nvSpPr>
          <p:cNvPr id="11" name="Shape 7"/>
          <p:cNvSpPr/>
          <p:nvPr/>
        </p:nvSpPr>
        <p:spPr>
          <a:xfrm>
            <a:off x="4544568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2" name="Image 2" descr="/home/claude/assets/icons/adv_accura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918" y="2044598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reduces human error in diagnosis and data entry.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1B3A6B"/>
          </a:solidFill>
          <a:ln/>
        </p:spPr>
      </p:sp>
      <p:sp>
        <p:nvSpPr>
          <p:cNvPr id="16" name="Shape 11"/>
          <p:cNvSpPr/>
          <p:nvPr/>
        </p:nvSpPr>
        <p:spPr>
          <a:xfrm>
            <a:off x="8339328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7" name="Image 3" descr="/home/claude/assets/icons/adv_secu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678" y="2044598"/>
            <a:ext cx="382219" cy="3822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Security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6676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protects sensitive patient information.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2E5C8A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2" name="Image 4" descr="/home/claude/assets/icons/adv_co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" y="4147718"/>
            <a:ext cx="382219" cy="3822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7724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resources lower overall operational costs.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4340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2E5C8A"/>
          </a:solidFill>
          <a:ln/>
        </p:spPr>
      </p:sp>
      <p:sp>
        <p:nvSpPr>
          <p:cNvPr id="26" name="Shape 19"/>
          <p:cNvSpPr/>
          <p:nvPr/>
        </p:nvSpPr>
        <p:spPr>
          <a:xfrm>
            <a:off x="4544568" y="408736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7" name="Image 5" descr="/home/claude/assets/icons/adv_acce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918" y="4147718"/>
            <a:ext cx="382219" cy="38221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Accessibility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7200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staff can access data anytime, anywhere.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13816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2E5C8A"/>
          </a:solidFill>
          <a:ln/>
        </p:spPr>
      </p:sp>
      <p:sp>
        <p:nvSpPr>
          <p:cNvPr id="31" name="Shape 23"/>
          <p:cNvSpPr/>
          <p:nvPr/>
        </p:nvSpPr>
        <p:spPr>
          <a:xfrm>
            <a:off x="8339328" y="408736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2" name="Image 6" descr="/home/claude/assets/icons/adv_aut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9678" y="4147718"/>
            <a:ext cx="382219" cy="38221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6112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Automation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36676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scheduling, billing, and routine reporting.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System Can Be Used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1B3A6B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7" name="Image 1" descr="/home/claude/assets/icons/app_hospi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2044598"/>
            <a:ext cx="382219" cy="38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947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Multi-Specialty Hospitals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724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large-scale patient and department data.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2E5C8A"/>
          </a:solidFill>
          <a:ln/>
        </p:spPr>
      </p:sp>
      <p:sp>
        <p:nvSpPr>
          <p:cNvPr id="11" name="Shape 7"/>
          <p:cNvSpPr/>
          <p:nvPr/>
        </p:nvSpPr>
        <p:spPr>
          <a:xfrm>
            <a:off x="4544568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2" name="Image 2" descr="/home/claude/assets/icons/app_clin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918" y="2044598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1947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&amp; Diagnostic Centers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appointments and test result tracking.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178308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1B3A6B"/>
          </a:solidFill>
          <a:ln/>
        </p:spPr>
      </p:sp>
      <p:sp>
        <p:nvSpPr>
          <p:cNvPr id="16" name="Shape 11"/>
          <p:cNvSpPr/>
          <p:nvPr/>
        </p:nvSpPr>
        <p:spPr>
          <a:xfrm>
            <a:off x="8339328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7" name="Image 3" descr="/home/claude/assets/icons/app_te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678" y="2044598"/>
            <a:ext cx="382219" cy="3822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0" y="1947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Platforms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36676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remote consultation with shared patient data.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2E5C8A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2" name="Image 4" descr="/home/claude/assets/icons/app_emergen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" y="4147718"/>
            <a:ext cx="382219" cy="3822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0507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&amp; Ambulance Services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7724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instant access to patient history in emergencies.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4340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1B3A6B"/>
          </a:solidFill>
          <a:ln/>
        </p:spPr>
      </p:sp>
      <p:sp>
        <p:nvSpPr>
          <p:cNvPr id="26" name="Shape 19"/>
          <p:cNvSpPr/>
          <p:nvPr/>
        </p:nvSpPr>
        <p:spPr>
          <a:xfrm>
            <a:off x="4544568" y="408736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7" name="Image 5" descr="/home/claude/assets/icons/app_insur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918" y="4147718"/>
            <a:ext cx="382219" cy="38221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40507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Processing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records quickly for faster claim approvals.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138160" y="38862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2E5C8A"/>
          </a:solidFill>
          <a:ln/>
        </p:spPr>
      </p:sp>
      <p:sp>
        <p:nvSpPr>
          <p:cNvPr id="31" name="Shape 23"/>
          <p:cNvSpPr/>
          <p:nvPr/>
        </p:nvSpPr>
        <p:spPr>
          <a:xfrm>
            <a:off x="8339328" y="408736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2" name="Image 6" descr="/home/claude/assets/icons/app_re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9678" y="4147718"/>
            <a:ext cx="382219" cy="38221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61120" y="40507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836676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anonymized data for healthcare research studies.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the System Further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6112" y="2130552"/>
            <a:ext cx="621792" cy="621792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7" name="Image 1" descr="/home/claude/assets/icons/fut_block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27" y="2205167"/>
            <a:ext cx="472562" cy="472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4208" y="21305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Security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14400" y="2834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blockchain for tamper-proof medical record storage.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09360" y="1874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65392" y="2130552"/>
            <a:ext cx="621792" cy="621792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2" name="Image 2" descr="/home/claude/assets/icons/fut_i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007" y="2205167"/>
            <a:ext cx="472562" cy="472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21305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IoT Integration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583680" y="2834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more wearable and bedside devices for live monitoring.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114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96112" y="4370832"/>
            <a:ext cx="621792" cy="621792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7" name="Image 3" descr="/home/claude/assets/icons/fut_vo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727" y="4445447"/>
            <a:ext cx="472562" cy="4725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64208" y="4370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 Assistants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14400" y="50749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doctors to update records using voice commands.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309360" y="4114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65392" y="4370832"/>
            <a:ext cx="621792" cy="621792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2" name="Image 4" descr="/home/claude/assets/icons/fut_predi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0007" y="4445447"/>
            <a:ext cx="472562" cy="4725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33488" y="4370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Predictive Analytics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583680" y="50749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disease outbreaks and hospital demand trends.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HOSPITAL DBMS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2377440"/>
            <a:ext cx="6492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Smart Hospital DBMS unifies records, diagnosis support, and resource planning.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errors, speeds up decisions, and strengthens data security across departments.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 design makes it scalable for hospitals of any size.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lays a strong foundation for future AI-driven healthcare innovation.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7406640" y="160020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15305C"/>
          </a:solidFill>
          <a:ln w="12700">
            <a:solidFill>
              <a:srgbClr val="3E6B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828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/home/claude/assets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189463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66760" y="1828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26680" y="2606040"/>
            <a:ext cx="3611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Xplore: "AI in Healthcare Data Management", 2024.</a:t>
            </a:r>
            <a:endParaRPr lang="en-US" sz="11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Elsevier Journal of Biomedical Informatics, Vol. 138.</a:t>
            </a:r>
            <a:endParaRPr lang="en-US" sz="11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Report on Digital Health Systems, 2023.</a:t>
            </a:r>
            <a:endParaRPr lang="en-US" sz="11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Springer: "Machine Learning for Clinical Decision Support".</a:t>
            </a:r>
            <a:endParaRPr lang="en-US" sz="11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Portal – Hospital Information Systems.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1545</Words>
  <Application>Microsoft Office PowerPoint</Application>
  <PresentationFormat>Widescreen</PresentationFormat>
  <Paragraphs>332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Indhu Rayavaram</cp:lastModifiedBy>
  <cp:revision>2</cp:revision>
  <dcterms:created xsi:type="dcterms:W3CDTF">2026-07-19T07:39:10Z</dcterms:created>
  <dcterms:modified xsi:type="dcterms:W3CDTF">2026-07-19T07:56:51Z</dcterms:modified>
</cp:coreProperties>
</file>